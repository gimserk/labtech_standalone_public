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65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82" r:id="rId20"/>
    <p:sldId id="283" r:id="rId21"/>
    <p:sldId id="264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A7AC07-1597-4CB6-86BE-71BDC9F4B46D}" v="3" dt="2025-05-27T16:37:40.3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108" y="3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skell, JT" userId="43ae342c-01b7-44d1-9e4c-5ccd6bbabb0e" providerId="ADAL" clId="{CEA7AC07-1597-4CB6-86BE-71BDC9F4B46D}"/>
    <pc:docChg chg="addSld delSld modSld">
      <pc:chgData name="Haskell, JT" userId="43ae342c-01b7-44d1-9e4c-5ccd6bbabb0e" providerId="ADAL" clId="{CEA7AC07-1597-4CB6-86BE-71BDC9F4B46D}" dt="2025-05-27T16:37:47.937" v="27" actId="20577"/>
      <pc:docMkLst>
        <pc:docMk/>
      </pc:docMkLst>
      <pc:sldChg chg="new del">
        <pc:chgData name="Haskell, JT" userId="43ae342c-01b7-44d1-9e4c-5ccd6bbabb0e" providerId="ADAL" clId="{CEA7AC07-1597-4CB6-86BE-71BDC9F4B46D}" dt="2025-05-27T16:37:35.391" v="3" actId="47"/>
        <pc:sldMkLst>
          <pc:docMk/>
          <pc:sldMk cId="2958641131" sldId="256"/>
        </pc:sldMkLst>
      </pc:sldChg>
      <pc:sldChg chg="modSp add mod">
        <pc:chgData name="Haskell, JT" userId="43ae342c-01b7-44d1-9e4c-5ccd6bbabb0e" providerId="ADAL" clId="{CEA7AC07-1597-4CB6-86BE-71BDC9F4B46D}" dt="2025-05-27T16:37:47.937" v="27" actId="20577"/>
        <pc:sldMkLst>
          <pc:docMk/>
          <pc:sldMk cId="409288186" sldId="257"/>
        </pc:sldMkLst>
        <pc:spChg chg="mod">
          <ac:chgData name="Haskell, JT" userId="43ae342c-01b7-44d1-9e4c-5ccd6bbabb0e" providerId="ADAL" clId="{CEA7AC07-1597-4CB6-86BE-71BDC9F4B46D}" dt="2025-05-27T16:37:42.681" v="7" actId="20577"/>
          <ac:spMkLst>
            <pc:docMk/>
            <pc:sldMk cId="409288186" sldId="257"/>
            <ac:spMk id="2" creationId="{848CE82C-BD33-E236-A89C-353C50ECAB9E}"/>
          </ac:spMkLst>
        </pc:spChg>
        <pc:spChg chg="mod">
          <ac:chgData name="Haskell, JT" userId="43ae342c-01b7-44d1-9e4c-5ccd6bbabb0e" providerId="ADAL" clId="{CEA7AC07-1597-4CB6-86BE-71BDC9F4B46D}" dt="2025-05-27T16:37:47.937" v="27" actId="20577"/>
          <ac:spMkLst>
            <pc:docMk/>
            <pc:sldMk cId="409288186" sldId="257"/>
            <ac:spMk id="3" creationId="{C2D6A4F0-EA2D-376B-20E7-F65A3F067D08}"/>
          </ac:spMkLst>
        </pc:spChg>
      </pc:sldChg>
      <pc:sldChg chg="delSp add setBg delDesignElem">
        <pc:chgData name="Haskell, JT" userId="43ae342c-01b7-44d1-9e4c-5ccd6bbabb0e" providerId="ADAL" clId="{CEA7AC07-1597-4CB6-86BE-71BDC9F4B46D}" dt="2025-05-27T16:37:33.442" v="2"/>
        <pc:sldMkLst>
          <pc:docMk/>
          <pc:sldMk cId="1665520183" sldId="264"/>
        </pc:sldMkLst>
        <pc:spChg chg="del">
          <ac:chgData name="Haskell, JT" userId="43ae342c-01b7-44d1-9e4c-5ccd6bbabb0e" providerId="ADAL" clId="{CEA7AC07-1597-4CB6-86BE-71BDC9F4B46D}" dt="2025-05-27T16:37:33.442" v="2"/>
          <ac:spMkLst>
            <pc:docMk/>
            <pc:sldMk cId="1665520183" sldId="264"/>
            <ac:spMk id="8" creationId="{C79B1AF8-A94D-4E21-A2A0-7F161E1E8110}"/>
          </ac:spMkLst>
        </pc:spChg>
        <pc:spChg chg="del">
          <ac:chgData name="Haskell, JT" userId="43ae342c-01b7-44d1-9e4c-5ccd6bbabb0e" providerId="ADAL" clId="{CEA7AC07-1597-4CB6-86BE-71BDC9F4B46D}" dt="2025-05-27T16:37:33.442" v="2"/>
          <ac:spMkLst>
            <pc:docMk/>
            <pc:sldMk cId="1665520183" sldId="264"/>
            <ac:spMk id="10" creationId="{5E10CB9E-4C45-46DB-835A-2C29CE29A625}"/>
          </ac:spMkLst>
        </pc:spChg>
        <pc:spChg chg="del">
          <ac:chgData name="Haskell, JT" userId="43ae342c-01b7-44d1-9e4c-5ccd6bbabb0e" providerId="ADAL" clId="{CEA7AC07-1597-4CB6-86BE-71BDC9F4B46D}" dt="2025-05-27T16:37:33.442" v="2"/>
          <ac:spMkLst>
            <pc:docMk/>
            <pc:sldMk cId="1665520183" sldId="264"/>
            <ac:spMk id="14" creationId="{B0513689-D00A-4D15-B8A3-AA50EC4B2BB9}"/>
          </ac:spMkLst>
        </pc:spChg>
        <pc:cxnChg chg="del">
          <ac:chgData name="Haskell, JT" userId="43ae342c-01b7-44d1-9e4c-5ccd6bbabb0e" providerId="ADAL" clId="{CEA7AC07-1597-4CB6-86BE-71BDC9F4B46D}" dt="2025-05-27T16:37:33.442" v="2"/>
          <ac:cxnSpMkLst>
            <pc:docMk/>
            <pc:sldMk cId="1665520183" sldId="264"/>
            <ac:cxnSpMk id="12" creationId="{2C1AF0B9-E97D-4D5D-BA2D-1C0BDE3A5EAE}"/>
          </ac:cxnSpMkLst>
        </pc:cxnChg>
      </pc:sldChg>
    </pc:docChg>
  </pc:docChgLst>
  <pc:docChgLst>
    <pc:chgData name="Haskell, JT" userId="43ae342c-01b7-44d1-9e4c-5ccd6bbabb0e" providerId="ADAL" clId="{68B51E5A-C0FA-4382-A876-71ABB5CD37AA}"/>
    <pc:docChg chg="modSld">
      <pc:chgData name="Haskell, JT" userId="43ae342c-01b7-44d1-9e4c-5ccd6bbabb0e" providerId="ADAL" clId="{68B51E5A-C0FA-4382-A876-71ABB5CD37AA}" dt="2025-05-27T16:39:58.271" v="27" actId="20577"/>
      <pc:docMkLst>
        <pc:docMk/>
      </pc:docMkLst>
      <pc:sldChg chg="modSp mod">
        <pc:chgData name="Haskell, JT" userId="43ae342c-01b7-44d1-9e4c-5ccd6bbabb0e" providerId="ADAL" clId="{68B51E5A-C0FA-4382-A876-71ABB5CD37AA}" dt="2025-05-27T16:39:58.271" v="27" actId="20577"/>
        <pc:sldMkLst>
          <pc:docMk/>
          <pc:sldMk cId="409288186" sldId="257"/>
        </pc:sldMkLst>
        <pc:spChg chg="mod">
          <ac:chgData name="Haskell, JT" userId="43ae342c-01b7-44d1-9e4c-5ccd6bbabb0e" providerId="ADAL" clId="{68B51E5A-C0FA-4382-A876-71ABB5CD37AA}" dt="2025-05-27T16:39:49.076" v="1" actId="20577"/>
          <ac:spMkLst>
            <pc:docMk/>
            <pc:sldMk cId="409288186" sldId="257"/>
            <ac:spMk id="2" creationId="{848CE82C-BD33-E236-A89C-353C50ECAB9E}"/>
          </ac:spMkLst>
        </pc:spChg>
        <pc:spChg chg="mod">
          <ac:chgData name="Haskell, JT" userId="43ae342c-01b7-44d1-9e4c-5ccd6bbabb0e" providerId="ADAL" clId="{68B51E5A-C0FA-4382-A876-71ABB5CD37AA}" dt="2025-05-27T16:39:58.271" v="27" actId="20577"/>
          <ac:spMkLst>
            <pc:docMk/>
            <pc:sldMk cId="409288186" sldId="257"/>
            <ac:spMk id="3" creationId="{C2D6A4F0-EA2D-376B-20E7-F65A3F067D08}"/>
          </ac:spMkLst>
        </pc:spChg>
      </pc:sldChg>
    </pc:docChg>
  </pc:docChgLst>
  <pc:docChgLst>
    <pc:chgData name="Haskell, JT" userId="43ae342c-01b7-44d1-9e4c-5ccd6bbabb0e" providerId="ADAL" clId="{8D8D9FCC-C03A-4C49-90E0-0AE8F379FE7D}"/>
    <pc:docChg chg="modSld">
      <pc:chgData name="Haskell, JT" userId="43ae342c-01b7-44d1-9e4c-5ccd6bbabb0e" providerId="ADAL" clId="{8D8D9FCC-C03A-4C49-90E0-0AE8F379FE7D}" dt="2025-05-27T16:40:51.254" v="26" actId="20577"/>
      <pc:docMkLst>
        <pc:docMk/>
      </pc:docMkLst>
      <pc:sldChg chg="modSp mod">
        <pc:chgData name="Haskell, JT" userId="43ae342c-01b7-44d1-9e4c-5ccd6bbabb0e" providerId="ADAL" clId="{8D8D9FCC-C03A-4C49-90E0-0AE8F379FE7D}" dt="2025-05-27T16:40:51.254" v="26" actId="20577"/>
        <pc:sldMkLst>
          <pc:docMk/>
          <pc:sldMk cId="409288186" sldId="257"/>
        </pc:sldMkLst>
        <pc:spChg chg="mod">
          <ac:chgData name="Haskell, JT" userId="43ae342c-01b7-44d1-9e4c-5ccd6bbabb0e" providerId="ADAL" clId="{8D8D9FCC-C03A-4C49-90E0-0AE8F379FE7D}" dt="2025-05-27T16:40:43.571" v="1" actId="20577"/>
          <ac:spMkLst>
            <pc:docMk/>
            <pc:sldMk cId="409288186" sldId="257"/>
            <ac:spMk id="2" creationId="{848CE82C-BD33-E236-A89C-353C50ECAB9E}"/>
          </ac:spMkLst>
        </pc:spChg>
        <pc:spChg chg="mod">
          <ac:chgData name="Haskell, JT" userId="43ae342c-01b7-44d1-9e4c-5ccd6bbabb0e" providerId="ADAL" clId="{8D8D9FCC-C03A-4C49-90E0-0AE8F379FE7D}" dt="2025-05-27T16:40:51.254" v="26" actId="20577"/>
          <ac:spMkLst>
            <pc:docMk/>
            <pc:sldMk cId="409288186" sldId="257"/>
            <ac:spMk id="3" creationId="{C2D6A4F0-EA2D-376B-20E7-F65A3F067D0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F9699B1-E4A0-4067-92A8-9E71A925B482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198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47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5631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198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591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819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91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560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472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866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374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EF9699B1-E4A0-4067-92A8-9E71A925B482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640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CE82C-BD33-E236-A89C-353C50ECAB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Chapter 9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D6A4F0-EA2D-376B-20E7-F65A3F067D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CompTIA Tech+</a:t>
            </a:r>
          </a:p>
          <a:p>
            <a:r>
              <a:rPr lang="en-US" dirty="0"/>
              <a:t>Operating Systems</a:t>
            </a:r>
          </a:p>
        </p:txBody>
      </p:sp>
    </p:spTree>
    <p:extLst>
      <p:ext uri="{BB962C8B-B14F-4D97-AF65-F5344CB8AC3E}">
        <p14:creationId xmlns:p14="http://schemas.microsoft.com/office/powerpoint/2010/main" val="409288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368A5362-EC3B-4BE3-804B-E6B289AF8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15D671-7374-14B4-3B2C-233156850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06704" y="609600"/>
            <a:ext cx="5364444" cy="13563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Function of an OS</a:t>
            </a:r>
          </a:p>
        </p:txBody>
      </p:sp>
      <p:pic>
        <p:nvPicPr>
          <p:cNvPr id="1026" name="Picture 2" descr="10 Best Operating Systems for Laptops and Computers [2024 LIST]">
            <a:extLst>
              <a:ext uri="{FF2B5EF4-FFF2-40B4-BE49-F238E27FC236}">
                <a16:creationId xmlns:a16="http://schemas.microsoft.com/office/drawing/2014/main" id="{02DFD2B3-2FC5-11B6-B7B5-880E9D782450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72064" y="2364128"/>
            <a:ext cx="4593715" cy="2127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693B8F-8A1C-F591-DE4E-D9B5D8A2DA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06703" y="2057400"/>
            <a:ext cx="5364444" cy="40386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Central Coordinator</a:t>
            </a:r>
          </a:p>
          <a:p>
            <a:r>
              <a:rPr lang="en-US" dirty="0"/>
              <a:t>Manages Hardware and Software</a:t>
            </a:r>
          </a:p>
          <a:p>
            <a:r>
              <a:rPr lang="en-US" dirty="0"/>
              <a:t>Without OS bunch of plastic and metal</a:t>
            </a:r>
          </a:p>
          <a:p>
            <a:r>
              <a:rPr lang="en-US" dirty="0"/>
              <a:t>Tech+ would like you to know Key components of the OS</a:t>
            </a:r>
          </a:p>
        </p:txBody>
      </p:sp>
    </p:spTree>
    <p:extLst>
      <p:ext uri="{BB962C8B-B14F-4D97-AF65-F5344CB8AC3E}">
        <p14:creationId xmlns:p14="http://schemas.microsoft.com/office/powerpoint/2010/main" val="25259808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054">
            <a:extLst>
              <a:ext uri="{FF2B5EF4-FFF2-40B4-BE49-F238E27FC236}">
                <a16:creationId xmlns:a16="http://schemas.microsoft.com/office/drawing/2014/main" id="{368A5362-EC3B-4BE3-804B-E6B289AF8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1D2AFF-D239-F9F6-33AE-CDBFB98A6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8564" y="609600"/>
            <a:ext cx="3912583" cy="13563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/>
              <a:t>Resource Management</a:t>
            </a:r>
          </a:p>
        </p:txBody>
      </p:sp>
      <p:pic>
        <p:nvPicPr>
          <p:cNvPr id="2050" name="Picture 2" descr="Windows Task Manager: The Complete Guide">
            <a:extLst>
              <a:ext uri="{FF2B5EF4-FFF2-40B4-BE49-F238E27FC236}">
                <a16:creationId xmlns:a16="http://schemas.microsoft.com/office/drawing/2014/main" id="{A6B4309F-6A6A-D248-E478-0B36B7534B6A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72064" y="1296944"/>
            <a:ext cx="6045576" cy="4262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D38EFC-91B6-E58A-99B2-DDE2F5A49C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558564" y="2057400"/>
            <a:ext cx="3912583" cy="40386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600"/>
              <a:t>Task and Process Management</a:t>
            </a:r>
          </a:p>
          <a:p>
            <a:r>
              <a:rPr lang="en-US" sz="1600"/>
              <a:t>Memory Management</a:t>
            </a:r>
          </a:p>
          <a:p>
            <a:r>
              <a:rPr lang="en-US" sz="1600"/>
              <a:t>Disk Management</a:t>
            </a:r>
          </a:p>
        </p:txBody>
      </p:sp>
    </p:spTree>
    <p:extLst>
      <p:ext uri="{BB962C8B-B14F-4D97-AF65-F5344CB8AC3E}">
        <p14:creationId xmlns:p14="http://schemas.microsoft.com/office/powerpoint/2010/main" val="17151200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9" name="Rectangle 3078">
            <a:extLst>
              <a:ext uri="{FF2B5EF4-FFF2-40B4-BE49-F238E27FC236}">
                <a16:creationId xmlns:a16="http://schemas.microsoft.com/office/drawing/2014/main" id="{368A5362-EC3B-4BE3-804B-E6B289AF8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9460A3-513D-6089-EA4D-C281B9011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8564" y="609600"/>
            <a:ext cx="3912583" cy="13563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/>
              <a:t>File System Management</a:t>
            </a:r>
          </a:p>
        </p:txBody>
      </p:sp>
      <p:pic>
        <p:nvPicPr>
          <p:cNvPr id="3074" name="Picture 2" descr="File Explorer in Windows 10 - Instructions and Video Lesson">
            <a:extLst>
              <a:ext uri="{FF2B5EF4-FFF2-40B4-BE49-F238E27FC236}">
                <a16:creationId xmlns:a16="http://schemas.microsoft.com/office/drawing/2014/main" id="{5B7EDE97-4A9C-543E-23C7-7024C2875B49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72064" y="1613784"/>
            <a:ext cx="6045576" cy="3628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CE14CD-5165-5578-AFE3-89B7DEF2F2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558564" y="2057400"/>
            <a:ext cx="3912583" cy="40386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600"/>
              <a:t>Create Files</a:t>
            </a:r>
          </a:p>
          <a:p>
            <a:r>
              <a:rPr lang="en-US" sz="1600"/>
              <a:t>Delete Files</a:t>
            </a:r>
          </a:p>
          <a:p>
            <a:r>
              <a:rPr lang="en-US" sz="1600"/>
              <a:t>Organize Files</a:t>
            </a:r>
          </a:p>
          <a:p>
            <a:r>
              <a:rPr lang="en-US" sz="1600"/>
              <a:t>Read Files</a:t>
            </a:r>
          </a:p>
          <a:p>
            <a:r>
              <a:rPr lang="en-US" sz="1600"/>
              <a:t>Write Files</a:t>
            </a:r>
          </a:p>
        </p:txBody>
      </p:sp>
    </p:spTree>
    <p:extLst>
      <p:ext uri="{BB962C8B-B14F-4D97-AF65-F5344CB8AC3E}">
        <p14:creationId xmlns:p14="http://schemas.microsoft.com/office/powerpoint/2010/main" val="29478710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3" name="Rectangle 4102">
            <a:extLst>
              <a:ext uri="{FF2B5EF4-FFF2-40B4-BE49-F238E27FC236}">
                <a16:creationId xmlns:a16="http://schemas.microsoft.com/office/drawing/2014/main" id="{368A5362-EC3B-4BE3-804B-E6B289AF8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3D7D70-5DE4-4C99-8FFC-CAE338788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8564" y="609600"/>
            <a:ext cx="3912583" cy="13563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/>
              <a:t>Application Management</a:t>
            </a:r>
          </a:p>
        </p:txBody>
      </p:sp>
      <p:pic>
        <p:nvPicPr>
          <p:cNvPr id="4098" name="Picture 2" descr="Use Add or Remove Programs to Uninstall Apps Windows 10/11 - MiniTool">
            <a:extLst>
              <a:ext uri="{FF2B5EF4-FFF2-40B4-BE49-F238E27FC236}">
                <a16:creationId xmlns:a16="http://schemas.microsoft.com/office/drawing/2014/main" id="{DBE129AB-EEA2-D8C7-94DF-AC642D037FB0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72064" y="1324176"/>
            <a:ext cx="6045576" cy="4207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A641E-9702-5762-3720-778CB70F49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558564" y="2057400"/>
            <a:ext cx="3912583" cy="40386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600"/>
              <a:t>Installing Software</a:t>
            </a:r>
          </a:p>
          <a:p>
            <a:r>
              <a:rPr lang="en-US" sz="1600"/>
              <a:t>Updating Software</a:t>
            </a:r>
          </a:p>
          <a:p>
            <a:r>
              <a:rPr lang="en-US" sz="1600"/>
              <a:t>Uninstalling Software</a:t>
            </a:r>
          </a:p>
        </p:txBody>
      </p:sp>
    </p:spTree>
    <p:extLst>
      <p:ext uri="{BB962C8B-B14F-4D97-AF65-F5344CB8AC3E}">
        <p14:creationId xmlns:p14="http://schemas.microsoft.com/office/powerpoint/2010/main" val="12296614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7" name="Rectangle 5126">
            <a:extLst>
              <a:ext uri="{FF2B5EF4-FFF2-40B4-BE49-F238E27FC236}">
                <a16:creationId xmlns:a16="http://schemas.microsoft.com/office/drawing/2014/main" id="{368A5362-EC3B-4BE3-804B-E6B289AF8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7CBA8E-222A-8784-6D5D-D1F5FF18B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8564" y="609600"/>
            <a:ext cx="3912583" cy="13563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/>
              <a:t>User Interface - GUI</a:t>
            </a:r>
          </a:p>
        </p:txBody>
      </p:sp>
      <p:pic>
        <p:nvPicPr>
          <p:cNvPr id="5122" name="Picture 2" descr="What is a GUI? | Welcome to The Privacy Dad's Blog!">
            <a:extLst>
              <a:ext uri="{FF2B5EF4-FFF2-40B4-BE49-F238E27FC236}">
                <a16:creationId xmlns:a16="http://schemas.microsoft.com/office/drawing/2014/main" id="{7AB967C8-CAC8-0F83-3E4A-8FAD078663D6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72064" y="1160918"/>
            <a:ext cx="6045576" cy="4534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7326B3-7A39-9C06-D647-6B901676DE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558564" y="2057400"/>
            <a:ext cx="3912583" cy="40386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800" dirty="0"/>
              <a:t>ICONS</a:t>
            </a:r>
          </a:p>
          <a:p>
            <a:r>
              <a:rPr lang="en-US" sz="1800" dirty="0"/>
              <a:t>Windows</a:t>
            </a:r>
          </a:p>
          <a:p>
            <a:r>
              <a:rPr lang="en-US" sz="1800" dirty="0"/>
              <a:t>Menu</a:t>
            </a:r>
          </a:p>
          <a:p>
            <a:r>
              <a:rPr lang="en-US" sz="1800" dirty="0"/>
              <a:t>Mouse</a:t>
            </a:r>
          </a:p>
        </p:txBody>
      </p:sp>
    </p:spTree>
    <p:extLst>
      <p:ext uri="{BB962C8B-B14F-4D97-AF65-F5344CB8AC3E}">
        <p14:creationId xmlns:p14="http://schemas.microsoft.com/office/powerpoint/2010/main" val="37225196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7" name="Rectangle 6156">
            <a:extLst>
              <a:ext uri="{FF2B5EF4-FFF2-40B4-BE49-F238E27FC236}">
                <a16:creationId xmlns:a16="http://schemas.microsoft.com/office/drawing/2014/main" id="{368A5362-EC3B-4BE3-804B-E6B289AF8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C845AD-1DCF-4D5C-752D-19E1AE919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8564" y="609600"/>
            <a:ext cx="3912583" cy="13563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/>
              <a:t>User Interface - CLI</a:t>
            </a:r>
          </a:p>
        </p:txBody>
      </p:sp>
      <p:pic>
        <p:nvPicPr>
          <p:cNvPr id="6150" name="Picture 6" descr="Windows Command Line Tutorial - 1 - Introduction to the Command Prompt">
            <a:extLst>
              <a:ext uri="{FF2B5EF4-FFF2-40B4-BE49-F238E27FC236}">
                <a16:creationId xmlns:a16="http://schemas.microsoft.com/office/drawing/2014/main" id="{099832F2-3B53-78D3-797D-FD6C8C66FF98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72064" y="1727691"/>
            <a:ext cx="6045576" cy="3400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75AF5-7F21-0641-79C6-F0E3FD0C2A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558564" y="2057400"/>
            <a:ext cx="3912583" cy="40386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600"/>
              <a:t>Text Based</a:t>
            </a:r>
          </a:p>
          <a:p>
            <a:r>
              <a:rPr lang="en-US" sz="1600"/>
              <a:t>Commands</a:t>
            </a:r>
          </a:p>
          <a:p>
            <a:r>
              <a:rPr lang="en-US" sz="1600"/>
              <a:t>NOT GUI </a:t>
            </a:r>
          </a:p>
        </p:txBody>
      </p:sp>
    </p:spTree>
    <p:extLst>
      <p:ext uri="{BB962C8B-B14F-4D97-AF65-F5344CB8AC3E}">
        <p14:creationId xmlns:p14="http://schemas.microsoft.com/office/powerpoint/2010/main" val="2537890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5" name="Rectangle 7174">
            <a:extLst>
              <a:ext uri="{FF2B5EF4-FFF2-40B4-BE49-F238E27FC236}">
                <a16:creationId xmlns:a16="http://schemas.microsoft.com/office/drawing/2014/main" id="{368A5362-EC3B-4BE3-804B-E6B289AF8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53EA2F-E7D9-74E6-C56D-A0EA65C50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8564" y="609600"/>
            <a:ext cx="3912583" cy="13563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/>
              <a:t>Security and Access Control</a:t>
            </a:r>
          </a:p>
        </p:txBody>
      </p:sp>
      <p:pic>
        <p:nvPicPr>
          <p:cNvPr id="7170" name="Picture 2" descr="What permissions so that user can't make changes? - Microsoft Q&amp;A">
            <a:extLst>
              <a:ext uri="{FF2B5EF4-FFF2-40B4-BE49-F238E27FC236}">
                <a16:creationId xmlns:a16="http://schemas.microsoft.com/office/drawing/2014/main" id="{CE401302-E7B0-42A6-F3FC-390B2CE9541F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72029" y="857675"/>
            <a:ext cx="5645646" cy="5140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22C74D-C787-23FB-BB5F-627EF1F73B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558564" y="2057400"/>
            <a:ext cx="3912583" cy="40386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600"/>
              <a:t>User Accounts</a:t>
            </a:r>
          </a:p>
          <a:p>
            <a:r>
              <a:rPr lang="en-US" sz="1600"/>
              <a:t>Authenticating Users</a:t>
            </a:r>
          </a:p>
          <a:p>
            <a:r>
              <a:rPr lang="en-US" sz="1600"/>
              <a:t>Enforce Permissions</a:t>
            </a:r>
          </a:p>
        </p:txBody>
      </p:sp>
    </p:spTree>
    <p:extLst>
      <p:ext uri="{BB962C8B-B14F-4D97-AF65-F5344CB8AC3E}">
        <p14:creationId xmlns:p14="http://schemas.microsoft.com/office/powerpoint/2010/main" val="27988028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9" name="Rectangle 8198">
            <a:extLst>
              <a:ext uri="{FF2B5EF4-FFF2-40B4-BE49-F238E27FC236}">
                <a16:creationId xmlns:a16="http://schemas.microsoft.com/office/drawing/2014/main" id="{368A5362-EC3B-4BE3-804B-E6B289AF8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36DC9D-91F5-0B93-94CA-45BF50062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8564" y="609600"/>
            <a:ext cx="3912583" cy="13563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/>
              <a:t>Networking</a:t>
            </a:r>
          </a:p>
        </p:txBody>
      </p:sp>
      <p:pic>
        <p:nvPicPr>
          <p:cNvPr id="8194" name="Picture 2" descr="3 Ways to Open Network Connections in Windows 10 Password Recovery |  Password Recovery">
            <a:extLst>
              <a:ext uri="{FF2B5EF4-FFF2-40B4-BE49-F238E27FC236}">
                <a16:creationId xmlns:a16="http://schemas.microsoft.com/office/drawing/2014/main" id="{0101899E-9A1D-463A-E149-59032DC5AC90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72064" y="2077974"/>
            <a:ext cx="6045576" cy="2700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4F2D37-03D1-65CB-3D53-84EC655790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558564" y="2057400"/>
            <a:ext cx="3912583" cy="40386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600"/>
              <a:t>Connections</a:t>
            </a:r>
          </a:p>
          <a:p>
            <a:r>
              <a:rPr lang="en-US" sz="1600"/>
              <a:t>Protocols</a:t>
            </a:r>
          </a:p>
          <a:p>
            <a:r>
              <a:rPr lang="en-US" sz="1600"/>
              <a:t>Network Services</a:t>
            </a:r>
          </a:p>
        </p:txBody>
      </p:sp>
    </p:spTree>
    <p:extLst>
      <p:ext uri="{BB962C8B-B14F-4D97-AF65-F5344CB8AC3E}">
        <p14:creationId xmlns:p14="http://schemas.microsoft.com/office/powerpoint/2010/main" val="28813287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3" name="Rectangle 9222">
            <a:extLst>
              <a:ext uri="{FF2B5EF4-FFF2-40B4-BE49-F238E27FC236}">
                <a16:creationId xmlns:a16="http://schemas.microsoft.com/office/drawing/2014/main" id="{368A5362-EC3B-4BE3-804B-E6B289AF8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6699B7-F99C-54DC-09DF-7FC69C6D6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8564" y="609600"/>
            <a:ext cx="3912583" cy="13563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/>
              <a:t>Services Management</a:t>
            </a:r>
          </a:p>
        </p:txBody>
      </p:sp>
      <p:pic>
        <p:nvPicPr>
          <p:cNvPr id="9218" name="Picture 2" descr="Tutorial: Create a Windows service app - .NET Framework | Microsoft Learn">
            <a:extLst>
              <a:ext uri="{FF2B5EF4-FFF2-40B4-BE49-F238E27FC236}">
                <a16:creationId xmlns:a16="http://schemas.microsoft.com/office/drawing/2014/main" id="{76245C11-DBE9-6468-EEA3-8B57CE61D03B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72064" y="1983689"/>
            <a:ext cx="6045576" cy="2888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F57F5-3DAD-EC01-477C-B732BC89AA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558564" y="2057400"/>
            <a:ext cx="3912583" cy="40386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600"/>
              <a:t>Background Services</a:t>
            </a:r>
          </a:p>
          <a:p>
            <a:r>
              <a:rPr lang="en-US" sz="1600"/>
              <a:t>Programs that perform without USER</a:t>
            </a:r>
          </a:p>
          <a:p>
            <a:r>
              <a:rPr lang="en-US" sz="1600"/>
              <a:t>Automatic Updates</a:t>
            </a:r>
          </a:p>
          <a:p>
            <a:r>
              <a:rPr lang="en-US" sz="1600"/>
              <a:t>Network Services</a:t>
            </a:r>
          </a:p>
          <a:p>
            <a:r>
              <a:rPr lang="en-US" sz="1600"/>
              <a:t>System Monitoring</a:t>
            </a:r>
          </a:p>
        </p:txBody>
      </p:sp>
    </p:spTree>
    <p:extLst>
      <p:ext uri="{BB962C8B-B14F-4D97-AF65-F5344CB8AC3E}">
        <p14:creationId xmlns:p14="http://schemas.microsoft.com/office/powerpoint/2010/main" val="33882635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7" name="Rectangle 10246">
            <a:extLst>
              <a:ext uri="{FF2B5EF4-FFF2-40B4-BE49-F238E27FC236}">
                <a16:creationId xmlns:a16="http://schemas.microsoft.com/office/drawing/2014/main" id="{368A5362-EC3B-4BE3-804B-E6B289AF8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EC1F9C-7BF6-7E42-35FD-7A55A77AA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8564" y="609600"/>
            <a:ext cx="3912583" cy="13563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/>
              <a:t>OS Types - Desktop</a:t>
            </a:r>
          </a:p>
        </p:txBody>
      </p:sp>
      <p:pic>
        <p:nvPicPr>
          <p:cNvPr id="10242" name="Picture 2" descr="Introducing Windows 11">
            <a:extLst>
              <a:ext uri="{FF2B5EF4-FFF2-40B4-BE49-F238E27FC236}">
                <a16:creationId xmlns:a16="http://schemas.microsoft.com/office/drawing/2014/main" id="{9C9CD989-DC9E-3D61-6FDB-83948BF09889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72064" y="1410299"/>
            <a:ext cx="6045576" cy="4035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A45033-A723-F123-52DA-174F105B03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558564" y="2057400"/>
            <a:ext cx="3912583" cy="40386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600"/>
              <a:t>Personal Computers (desktops and laptops)</a:t>
            </a:r>
          </a:p>
          <a:p>
            <a:r>
              <a:rPr lang="en-US" sz="1600"/>
              <a:t>GUI ease of use</a:t>
            </a:r>
          </a:p>
          <a:p>
            <a:r>
              <a:rPr lang="en-US" sz="1600"/>
              <a:t>Support general-purpose</a:t>
            </a:r>
          </a:p>
          <a:p>
            <a:r>
              <a:rPr lang="en-US" sz="1600"/>
              <a:t>Robust file management</a:t>
            </a:r>
          </a:p>
        </p:txBody>
      </p:sp>
    </p:spTree>
    <p:extLst>
      <p:ext uri="{BB962C8B-B14F-4D97-AF65-F5344CB8AC3E}">
        <p14:creationId xmlns:p14="http://schemas.microsoft.com/office/powerpoint/2010/main" val="605095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1" name="Rectangle 11270">
            <a:extLst>
              <a:ext uri="{FF2B5EF4-FFF2-40B4-BE49-F238E27FC236}">
                <a16:creationId xmlns:a16="http://schemas.microsoft.com/office/drawing/2014/main" id="{368A5362-EC3B-4BE3-804B-E6B289AF8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CD1A5F-0CB8-AC81-EE76-C69017C34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8564" y="609600"/>
            <a:ext cx="3912583" cy="13563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/>
              <a:t>OS Types – Mobile Devices</a:t>
            </a:r>
          </a:p>
        </p:txBody>
      </p:sp>
      <p:pic>
        <p:nvPicPr>
          <p:cNvPr id="11266" name="Picture 2" descr="Android System SafetyCore: Hidden Installation and What You Should Know">
            <a:extLst>
              <a:ext uri="{FF2B5EF4-FFF2-40B4-BE49-F238E27FC236}">
                <a16:creationId xmlns:a16="http://schemas.microsoft.com/office/drawing/2014/main" id="{30FF6834-6950-2ED9-4CB4-BB0D77388265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72064" y="1387628"/>
            <a:ext cx="6045576" cy="4080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879246-C2CA-BA97-81EF-F80FD69B2A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558564" y="2057400"/>
            <a:ext cx="3912583" cy="40386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600"/>
              <a:t>Touchscreens</a:t>
            </a:r>
          </a:p>
          <a:p>
            <a:r>
              <a:rPr lang="en-US" sz="1600"/>
              <a:t>Power Efficiency</a:t>
            </a:r>
          </a:p>
          <a:p>
            <a:r>
              <a:rPr lang="en-US" sz="1600"/>
              <a:t>App Based</a:t>
            </a:r>
          </a:p>
          <a:p>
            <a:r>
              <a:rPr lang="en-US" sz="1600"/>
              <a:t>Cellular, Wi-Fi, Bluetooth</a:t>
            </a:r>
          </a:p>
          <a:p>
            <a:r>
              <a:rPr lang="en-US" sz="1600"/>
              <a:t>GPS, Cameras, sensors</a:t>
            </a:r>
          </a:p>
        </p:txBody>
      </p:sp>
    </p:spTree>
    <p:extLst>
      <p:ext uri="{BB962C8B-B14F-4D97-AF65-F5344CB8AC3E}">
        <p14:creationId xmlns:p14="http://schemas.microsoft.com/office/powerpoint/2010/main" val="328568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5" name="Rectangle 12294">
            <a:extLst>
              <a:ext uri="{FF2B5EF4-FFF2-40B4-BE49-F238E27FC236}">
                <a16:creationId xmlns:a16="http://schemas.microsoft.com/office/drawing/2014/main" id="{368A5362-EC3B-4BE3-804B-E6B289AF8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9F9DD0-AB9D-591E-DA6D-437BCFE86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8564" y="609600"/>
            <a:ext cx="3912583" cy="13563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/>
              <a:t>OS Types - Serer</a:t>
            </a:r>
          </a:p>
        </p:txBody>
      </p:sp>
      <p:pic>
        <p:nvPicPr>
          <p:cNvPr id="12290" name="Picture 2" descr="Ubuntu Server Virtual Machine images for VMware and VirtualBox">
            <a:extLst>
              <a:ext uri="{FF2B5EF4-FFF2-40B4-BE49-F238E27FC236}">
                <a16:creationId xmlns:a16="http://schemas.microsoft.com/office/drawing/2014/main" id="{9DEB1279-B0C8-6010-AE60-5ADD0C093444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83822" y="857675"/>
            <a:ext cx="3822059" cy="5140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99E01D-C101-B5E3-0C4F-3EA5C70B9F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558564" y="2057400"/>
            <a:ext cx="3912583" cy="40386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600"/>
              <a:t>Stability</a:t>
            </a:r>
          </a:p>
          <a:p>
            <a:r>
              <a:rPr lang="en-US" sz="1600"/>
              <a:t>Security</a:t>
            </a:r>
          </a:p>
          <a:p>
            <a:r>
              <a:rPr lang="en-US" sz="1600"/>
              <a:t>Multiple Client Requests</a:t>
            </a:r>
          </a:p>
          <a:p>
            <a:r>
              <a:rPr lang="en-US" sz="1600"/>
              <a:t>Advanced Features</a:t>
            </a:r>
          </a:p>
          <a:p>
            <a:r>
              <a:rPr lang="en-US" sz="1600"/>
              <a:t>Minimal GUI</a:t>
            </a:r>
          </a:p>
        </p:txBody>
      </p:sp>
    </p:spTree>
    <p:extLst>
      <p:ext uri="{BB962C8B-B14F-4D97-AF65-F5344CB8AC3E}">
        <p14:creationId xmlns:p14="http://schemas.microsoft.com/office/powerpoint/2010/main" val="4681764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9" name="Rectangle 13318">
            <a:extLst>
              <a:ext uri="{FF2B5EF4-FFF2-40B4-BE49-F238E27FC236}">
                <a16:creationId xmlns:a16="http://schemas.microsoft.com/office/drawing/2014/main" id="{368A5362-EC3B-4BE3-804B-E6B289AF8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2D7C10-6C49-9C9D-1D93-00C8E9DAC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06704" y="609600"/>
            <a:ext cx="5364444" cy="13563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OS Types - Embedded</a:t>
            </a:r>
          </a:p>
        </p:txBody>
      </p:sp>
      <p:pic>
        <p:nvPicPr>
          <p:cNvPr id="13314" name="Picture 2" descr="Embedded Operating System, types and applications">
            <a:extLst>
              <a:ext uri="{FF2B5EF4-FFF2-40B4-BE49-F238E27FC236}">
                <a16:creationId xmlns:a16="http://schemas.microsoft.com/office/drawing/2014/main" id="{AD1C7BCE-B7E6-E42D-DEE1-1839B7DAFF62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72064" y="1682398"/>
            <a:ext cx="4593715" cy="3491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F2894E-75C9-0C6D-C944-D9A68826FA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06703" y="2057400"/>
            <a:ext cx="5364444" cy="40386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Limited Resources</a:t>
            </a:r>
          </a:p>
          <a:p>
            <a:r>
              <a:rPr lang="en-US" dirty="0"/>
              <a:t>Limited Memory</a:t>
            </a:r>
          </a:p>
          <a:p>
            <a:r>
              <a:rPr lang="en-US" dirty="0"/>
              <a:t>Limited Processing</a:t>
            </a:r>
          </a:p>
          <a:p>
            <a:r>
              <a:rPr lang="en-US" dirty="0"/>
              <a:t>Highly dedicated</a:t>
            </a:r>
          </a:p>
          <a:p>
            <a:r>
              <a:rPr lang="en-US" dirty="0"/>
              <a:t>Reliable</a:t>
            </a:r>
          </a:p>
        </p:txBody>
      </p:sp>
    </p:spTree>
    <p:extLst>
      <p:ext uri="{BB962C8B-B14F-4D97-AF65-F5344CB8AC3E}">
        <p14:creationId xmlns:p14="http://schemas.microsoft.com/office/powerpoint/2010/main" val="23072446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7" name="Rectangle 14346">
            <a:extLst>
              <a:ext uri="{FF2B5EF4-FFF2-40B4-BE49-F238E27FC236}">
                <a16:creationId xmlns:a16="http://schemas.microsoft.com/office/drawing/2014/main" id="{368A5362-EC3B-4BE3-804B-E6B289AF8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70599D-F1C3-A628-D296-0427E46BC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8564" y="609600"/>
            <a:ext cx="3912583" cy="13563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/>
              <a:t>Windows</a:t>
            </a:r>
          </a:p>
        </p:txBody>
      </p:sp>
      <p:pic>
        <p:nvPicPr>
          <p:cNvPr id="14342" name="Picture 6" descr="Introducing Windows 11">
            <a:extLst>
              <a:ext uri="{FF2B5EF4-FFF2-40B4-BE49-F238E27FC236}">
                <a16:creationId xmlns:a16="http://schemas.microsoft.com/office/drawing/2014/main" id="{4264A45C-9186-C0FD-CF32-E28794C306B9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72064" y="1727691"/>
            <a:ext cx="6045576" cy="3400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43AEBB-1A7E-EC39-AFF0-651D8AE441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558564" y="2057400"/>
            <a:ext cx="3912583" cy="40386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600"/>
              <a:t>Wide Hardware Compatibility</a:t>
            </a:r>
          </a:p>
          <a:p>
            <a:r>
              <a:rPr lang="en-US" sz="1600"/>
              <a:t>Large Software Ecosystems</a:t>
            </a:r>
          </a:p>
          <a:p>
            <a:r>
              <a:rPr lang="en-US" sz="1600"/>
              <a:t>Different Versions and Editions</a:t>
            </a:r>
          </a:p>
          <a:p>
            <a:r>
              <a:rPr lang="en-US" sz="1600"/>
              <a:t>User-Friendliness</a:t>
            </a:r>
          </a:p>
          <a:p>
            <a:r>
              <a:rPr lang="en-US" sz="1600"/>
              <a:t>Integrated Features</a:t>
            </a:r>
          </a:p>
        </p:txBody>
      </p:sp>
    </p:spTree>
    <p:extLst>
      <p:ext uri="{BB962C8B-B14F-4D97-AF65-F5344CB8AC3E}">
        <p14:creationId xmlns:p14="http://schemas.microsoft.com/office/powerpoint/2010/main" val="490038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7" name="Rectangle 15366">
            <a:extLst>
              <a:ext uri="{FF2B5EF4-FFF2-40B4-BE49-F238E27FC236}">
                <a16:creationId xmlns:a16="http://schemas.microsoft.com/office/drawing/2014/main" id="{368A5362-EC3B-4BE3-804B-E6B289AF8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7FFD2F-068B-6D0B-3939-A5B3878A1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06704" y="609600"/>
            <a:ext cx="5364444" cy="13563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Apple macOS</a:t>
            </a:r>
          </a:p>
        </p:txBody>
      </p:sp>
      <p:pic>
        <p:nvPicPr>
          <p:cNvPr id="15362" name="Picture 2" descr="Mac Downloads - CamRanger">
            <a:extLst>
              <a:ext uri="{FF2B5EF4-FFF2-40B4-BE49-F238E27FC236}">
                <a16:creationId xmlns:a16="http://schemas.microsoft.com/office/drawing/2014/main" id="{6E5A2EF7-B34E-A9DD-7F5B-E13AA5E74DB6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72064" y="1131152"/>
            <a:ext cx="4593715" cy="4593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661AB-F0EC-1603-5AAD-AA43B6DF06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06703" y="2057400"/>
            <a:ext cx="5364444" cy="40386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Exclusive to Apple Hardware</a:t>
            </a:r>
          </a:p>
          <a:p>
            <a:r>
              <a:rPr lang="en-US" dirty="0"/>
              <a:t>Unix-based Foundation</a:t>
            </a:r>
          </a:p>
          <a:p>
            <a:r>
              <a:rPr lang="en-US" dirty="0"/>
              <a:t>Ease of Use</a:t>
            </a:r>
          </a:p>
          <a:p>
            <a:r>
              <a:rPr lang="en-US" dirty="0"/>
              <a:t>Strong Multimedia Capabilities</a:t>
            </a:r>
          </a:p>
          <a:p>
            <a:r>
              <a:rPr lang="en-US" dirty="0"/>
              <a:t>Ecosystem Integration (iCloud) </a:t>
            </a:r>
          </a:p>
          <a:p>
            <a:r>
              <a:rPr lang="en-US" dirty="0"/>
              <a:t>Security Focused</a:t>
            </a:r>
          </a:p>
        </p:txBody>
      </p:sp>
    </p:spTree>
    <p:extLst>
      <p:ext uri="{BB962C8B-B14F-4D97-AF65-F5344CB8AC3E}">
        <p14:creationId xmlns:p14="http://schemas.microsoft.com/office/powerpoint/2010/main" val="34720487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1" name="Rectangle 16390">
            <a:extLst>
              <a:ext uri="{FF2B5EF4-FFF2-40B4-BE49-F238E27FC236}">
                <a16:creationId xmlns:a16="http://schemas.microsoft.com/office/drawing/2014/main" id="{6C0DD7BF-8F3D-4D34-A37A-85563D3D62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41F14B-87CC-C3D2-140E-96E7DCD0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06704" y="609600"/>
            <a:ext cx="5364444" cy="13563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iOS</a:t>
            </a:r>
          </a:p>
        </p:txBody>
      </p:sp>
      <p:pic>
        <p:nvPicPr>
          <p:cNvPr id="16386" name="Picture 2" descr="Apple elevates the iPhone experience with iOS 26 - Apple">
            <a:extLst>
              <a:ext uri="{FF2B5EF4-FFF2-40B4-BE49-F238E27FC236}">
                <a16:creationId xmlns:a16="http://schemas.microsoft.com/office/drawing/2014/main" id="{15E5D0B2-AE15-866F-777C-12E8A1FB3914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85" r="26549" b="-2"/>
          <a:stretch>
            <a:fillRect/>
          </a:stretch>
        </p:blipFill>
        <p:spPr bwMode="auto">
          <a:xfrm>
            <a:off x="872064" y="857675"/>
            <a:ext cx="4593715" cy="5140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EB4EFC-50DA-B0B5-C65E-A9325C8A9E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06703" y="2057400"/>
            <a:ext cx="5364444" cy="40386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Touch-Centric Interface</a:t>
            </a:r>
          </a:p>
          <a:p>
            <a:r>
              <a:rPr lang="en-US" dirty="0"/>
              <a:t>Apple Hardware</a:t>
            </a:r>
          </a:p>
          <a:p>
            <a:r>
              <a:rPr lang="en-US" dirty="0"/>
              <a:t>App-Based Ecosystem</a:t>
            </a:r>
          </a:p>
          <a:p>
            <a:r>
              <a:rPr lang="en-US" dirty="0"/>
              <a:t>Ease of Use</a:t>
            </a:r>
          </a:p>
          <a:p>
            <a:r>
              <a:rPr lang="en-US" dirty="0"/>
              <a:t>Strong Security and Privacy </a:t>
            </a:r>
          </a:p>
          <a:p>
            <a:r>
              <a:rPr lang="en-US" dirty="0"/>
              <a:t>Regular Updates</a:t>
            </a:r>
          </a:p>
        </p:txBody>
      </p:sp>
    </p:spTree>
    <p:extLst>
      <p:ext uri="{BB962C8B-B14F-4D97-AF65-F5344CB8AC3E}">
        <p14:creationId xmlns:p14="http://schemas.microsoft.com/office/powerpoint/2010/main" val="4270902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5" name="Rectangle 17414">
            <a:extLst>
              <a:ext uri="{FF2B5EF4-FFF2-40B4-BE49-F238E27FC236}">
                <a16:creationId xmlns:a16="http://schemas.microsoft.com/office/drawing/2014/main" id="{6C0DD7BF-8F3D-4D34-A37A-85563D3D62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7E640F-8270-FE0E-6EB6-AB8AD1402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06704" y="609600"/>
            <a:ext cx="5364444" cy="13563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Linux</a:t>
            </a:r>
          </a:p>
        </p:txBody>
      </p:sp>
      <p:pic>
        <p:nvPicPr>
          <p:cNvPr id="17410" name="Picture 2" descr="What is Linux, What Does It Do, Who Uses It? | by cansuclaire | Medium">
            <a:extLst>
              <a:ext uri="{FF2B5EF4-FFF2-40B4-BE49-F238E27FC236}">
                <a16:creationId xmlns:a16="http://schemas.microsoft.com/office/drawing/2014/main" id="{0EAEA777-DE1E-1B41-EAA3-B914BF312F13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68" r="25566" b="-2"/>
          <a:stretch>
            <a:fillRect/>
          </a:stretch>
        </p:blipFill>
        <p:spPr bwMode="auto">
          <a:xfrm>
            <a:off x="872064" y="857675"/>
            <a:ext cx="4593715" cy="5140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D11F07-599B-CDB6-36F5-A5F5781C9E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06703" y="2057400"/>
            <a:ext cx="5364444" cy="40386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Open Source and Free</a:t>
            </a:r>
          </a:p>
          <a:p>
            <a:r>
              <a:rPr lang="en-US" dirty="0"/>
              <a:t>Highly Customizable</a:t>
            </a:r>
          </a:p>
          <a:p>
            <a:r>
              <a:rPr lang="en-US" dirty="0"/>
              <a:t>Versatile</a:t>
            </a:r>
          </a:p>
          <a:p>
            <a:r>
              <a:rPr lang="en-US" dirty="0"/>
              <a:t>Variety of GUIs</a:t>
            </a:r>
          </a:p>
          <a:p>
            <a:r>
              <a:rPr lang="en-US" dirty="0"/>
              <a:t>Stability and Reliability</a:t>
            </a:r>
          </a:p>
          <a:p>
            <a:r>
              <a:rPr lang="en-US" dirty="0"/>
              <a:t>Security </a:t>
            </a:r>
          </a:p>
          <a:p>
            <a:r>
              <a:rPr lang="en-US" dirty="0"/>
              <a:t>Broad Hardware Support</a:t>
            </a:r>
          </a:p>
        </p:txBody>
      </p:sp>
    </p:spTree>
    <p:extLst>
      <p:ext uri="{BB962C8B-B14F-4D97-AF65-F5344CB8AC3E}">
        <p14:creationId xmlns:p14="http://schemas.microsoft.com/office/powerpoint/2010/main" val="34311574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9" name="Rectangle 18438">
            <a:extLst>
              <a:ext uri="{FF2B5EF4-FFF2-40B4-BE49-F238E27FC236}">
                <a16:creationId xmlns:a16="http://schemas.microsoft.com/office/drawing/2014/main" id="{368A5362-EC3B-4BE3-804B-E6B289AF8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46DBFE-6D7C-3EAC-0589-60FFB5FFF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06704" y="609600"/>
            <a:ext cx="5364444" cy="13563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ChromeOS</a:t>
            </a:r>
          </a:p>
        </p:txBody>
      </p:sp>
      <p:pic>
        <p:nvPicPr>
          <p:cNvPr id="18434" name="Picture 2" descr="Google ChromeOS Review | PCMag">
            <a:extLst>
              <a:ext uri="{FF2B5EF4-FFF2-40B4-BE49-F238E27FC236}">
                <a16:creationId xmlns:a16="http://schemas.microsoft.com/office/drawing/2014/main" id="{3B92FFEC-B42E-D0AE-8B43-FBD16C82454D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72064" y="2136027"/>
            <a:ext cx="4593715" cy="25839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C30D76-7B18-3347-37C3-21E00C6A2D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06703" y="2057400"/>
            <a:ext cx="5364444" cy="40386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Web-Centric</a:t>
            </a:r>
          </a:p>
          <a:p>
            <a:r>
              <a:rPr lang="en-US" dirty="0"/>
              <a:t>Cloud-Based</a:t>
            </a:r>
          </a:p>
          <a:p>
            <a:r>
              <a:rPr lang="en-US" dirty="0"/>
              <a:t>Chrome Browser as UI</a:t>
            </a:r>
          </a:p>
          <a:p>
            <a:r>
              <a:rPr lang="en-US" dirty="0"/>
              <a:t>Fast BOOT</a:t>
            </a:r>
          </a:p>
          <a:p>
            <a:r>
              <a:rPr lang="en-US" dirty="0"/>
              <a:t>Simple</a:t>
            </a:r>
          </a:p>
          <a:p>
            <a:r>
              <a:rPr lang="en-US" dirty="0"/>
              <a:t>Automatic Updates</a:t>
            </a:r>
          </a:p>
          <a:p>
            <a:r>
              <a:rPr lang="en-US" dirty="0"/>
              <a:t>Security Focus</a:t>
            </a:r>
          </a:p>
        </p:txBody>
      </p:sp>
    </p:spTree>
    <p:extLst>
      <p:ext uri="{BB962C8B-B14F-4D97-AF65-F5344CB8AC3E}">
        <p14:creationId xmlns:p14="http://schemas.microsoft.com/office/powerpoint/2010/main" val="30650822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3" name="Rectangle 19462">
            <a:extLst>
              <a:ext uri="{FF2B5EF4-FFF2-40B4-BE49-F238E27FC236}">
                <a16:creationId xmlns:a16="http://schemas.microsoft.com/office/drawing/2014/main" id="{6C0DD7BF-8F3D-4D34-A37A-85563D3D62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A6C3A6-9CA5-30FE-6833-1F6957E09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06704" y="609600"/>
            <a:ext cx="5364444" cy="13563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Android</a:t>
            </a:r>
          </a:p>
        </p:txBody>
      </p:sp>
      <p:pic>
        <p:nvPicPr>
          <p:cNvPr id="19458" name="Picture 2" descr="Android System SafetyCore: Hidden Installation and What You Should Know">
            <a:extLst>
              <a:ext uri="{FF2B5EF4-FFF2-40B4-BE49-F238E27FC236}">
                <a16:creationId xmlns:a16="http://schemas.microsoft.com/office/drawing/2014/main" id="{B0EF2F8A-9A51-BA52-2294-998E3E26D9FB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91" r="19793" b="3"/>
          <a:stretch>
            <a:fillRect/>
          </a:stretch>
        </p:blipFill>
        <p:spPr bwMode="auto">
          <a:xfrm>
            <a:off x="872064" y="857675"/>
            <a:ext cx="4593715" cy="5140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F4CAB6-C814-2960-4095-77B5874204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06703" y="2057400"/>
            <a:ext cx="5364444" cy="40386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Open Source</a:t>
            </a:r>
          </a:p>
          <a:p>
            <a:r>
              <a:rPr lang="en-US" dirty="0"/>
              <a:t>Touch-Based Interface</a:t>
            </a:r>
          </a:p>
          <a:p>
            <a:r>
              <a:rPr lang="en-US" dirty="0"/>
              <a:t>Wide Hardware Variety</a:t>
            </a:r>
          </a:p>
          <a:p>
            <a:r>
              <a:rPr lang="en-US" dirty="0"/>
              <a:t>App Ecosystem</a:t>
            </a:r>
          </a:p>
          <a:p>
            <a:r>
              <a:rPr lang="en-US" dirty="0"/>
              <a:t>Customization</a:t>
            </a:r>
          </a:p>
          <a:p>
            <a:r>
              <a:rPr lang="en-US" dirty="0"/>
              <a:t>Integration with Google</a:t>
            </a:r>
          </a:p>
        </p:txBody>
      </p:sp>
    </p:spTree>
    <p:extLst>
      <p:ext uri="{BB962C8B-B14F-4D97-AF65-F5344CB8AC3E}">
        <p14:creationId xmlns:p14="http://schemas.microsoft.com/office/powerpoint/2010/main" val="32298034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F571B-FEF0-2773-10E0-49EF98FF6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5900" y="637563"/>
            <a:ext cx="8640201" cy="307037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n-US" sz="4000" b="1" cap="all">
                <a:solidFill>
                  <a:schemeClr val="tx1"/>
                </a:solidFill>
              </a:rPr>
              <a:t>KAHOOT!</a:t>
            </a:r>
          </a:p>
        </p:txBody>
      </p:sp>
    </p:spTree>
    <p:extLst>
      <p:ext uri="{BB962C8B-B14F-4D97-AF65-F5344CB8AC3E}">
        <p14:creationId xmlns:p14="http://schemas.microsoft.com/office/powerpoint/2010/main" val="1665520183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D9D01AC2-EE7D-4E49-99EE-8E62E4E7E8A7}"/>
    </a:ext>
  </a:extLst>
</a:theme>
</file>

<file path=docMetadata/LabelInfo.xml><?xml version="1.0" encoding="utf-8"?>
<clbl:labelList xmlns:clbl="http://schemas.microsoft.com/office/2020/mipLabelMetadata">
  <clbl:label id="{979a234f-6676-4346-ab46-4d9633c4cad1}" enabled="0" method="" siteId="{979a234f-6676-4346-ab46-4d9633c4cad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Basis</Template>
  <TotalTime>24</TotalTime>
  <Words>279</Words>
  <Application>Microsoft Office PowerPoint</Application>
  <PresentationFormat>Widescreen</PresentationFormat>
  <Paragraphs>112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Corbel</vt:lpstr>
      <vt:lpstr>Basis</vt:lpstr>
      <vt:lpstr>Chapter 9</vt:lpstr>
      <vt:lpstr>Function of an OS</vt:lpstr>
      <vt:lpstr>Resource Management</vt:lpstr>
      <vt:lpstr>File System Management</vt:lpstr>
      <vt:lpstr>Application Management</vt:lpstr>
      <vt:lpstr>User Interface - GUI</vt:lpstr>
      <vt:lpstr>User Interface - CLI</vt:lpstr>
      <vt:lpstr>Security and Access Control</vt:lpstr>
      <vt:lpstr>Networking</vt:lpstr>
      <vt:lpstr>Services Management</vt:lpstr>
      <vt:lpstr>OS Types - Desktop</vt:lpstr>
      <vt:lpstr>OS Types – Mobile Devices</vt:lpstr>
      <vt:lpstr>OS Types - Serer</vt:lpstr>
      <vt:lpstr>OS Types - Embedded</vt:lpstr>
      <vt:lpstr>Windows</vt:lpstr>
      <vt:lpstr>Apple macOS</vt:lpstr>
      <vt:lpstr>iOS</vt:lpstr>
      <vt:lpstr>Linux</vt:lpstr>
      <vt:lpstr>ChromeOS</vt:lpstr>
      <vt:lpstr>Android</vt:lpstr>
      <vt:lpstr>KAHOOT!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Haskell, JT</dc:creator>
  <cp:lastModifiedBy>Haskell, JT</cp:lastModifiedBy>
  <cp:revision>3</cp:revision>
  <dcterms:created xsi:type="dcterms:W3CDTF">2025-05-27T16:37:30Z</dcterms:created>
  <dcterms:modified xsi:type="dcterms:W3CDTF">2025-06-11T03:14:31Z</dcterms:modified>
</cp:coreProperties>
</file>